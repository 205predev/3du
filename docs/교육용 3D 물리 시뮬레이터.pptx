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6" d="100"/>
          <a:sy n="36" d="100"/>
        </p:scale>
        <p:origin x="-1092" y="-90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presProps" Target="presProps.xml"  /><Relationship Id="rId32" Type="http://schemas.openxmlformats.org/officeDocument/2006/relationships/viewProps" Target="viewProps.xml"  /><Relationship Id="rId33" Type="http://schemas.openxmlformats.org/officeDocument/2006/relationships/theme" Target="theme/theme1.xml"  /><Relationship Id="rId34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8.png"  /><Relationship Id="rId13" Type="http://schemas.openxmlformats.org/officeDocument/2006/relationships/image" Target="../media/image9.png"  /><Relationship Id="rId14" Type="http://schemas.openxmlformats.org/officeDocument/2006/relationships/image" Target="../media/image8.png"  /><Relationship Id="rId15" Type="http://schemas.openxmlformats.org/officeDocument/2006/relationships/image" Target="../media/image9.png"  /><Relationship Id="rId16" Type="http://schemas.openxmlformats.org/officeDocument/2006/relationships/image" Target="../media/image8.png"  /><Relationship Id="rId17" Type="http://schemas.openxmlformats.org/officeDocument/2006/relationships/image" Target="../media/image9.png"  /><Relationship Id="rId2" Type="http://schemas.openxmlformats.org/officeDocument/2006/relationships/image" Target="../media/image5.png"  /><Relationship Id="rId3" Type="http://schemas.openxmlformats.org/officeDocument/2006/relationships/image" Target="../media/image2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Relationship Id="rId8" Type="http://schemas.openxmlformats.org/officeDocument/2006/relationships/image" Target="../media/image8.png"  /><Relationship Id="rId9" Type="http://schemas.openxmlformats.org/officeDocument/2006/relationships/image" Target="../media/image9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5.png"  /><Relationship Id="rId9" Type="http://schemas.openxmlformats.org/officeDocument/2006/relationships/image" Target="../media/image1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Relationship Id="rId6" Type="http://schemas.openxmlformats.org/officeDocument/2006/relationships/image" Target="../media/image1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12.png"  /><Relationship Id="rId6" Type="http://schemas.openxmlformats.org/officeDocument/2006/relationships/image" Target="../media/image2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1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2.png"  /><Relationship Id="rId4" Type="http://schemas.openxmlformats.org/officeDocument/2006/relationships/image" Target="../media/image6.png"  /><Relationship Id="rId5" Type="http://schemas.openxmlformats.org/officeDocument/2006/relationships/image" Target="../media/image12.png"  /><Relationship Id="rId6" Type="http://schemas.openxmlformats.org/officeDocument/2006/relationships/image" Target="../media/image26.png"  /><Relationship Id="rId7" Type="http://schemas.openxmlformats.org/officeDocument/2006/relationships/image" Target="../media/image26.png"  /><Relationship Id="rId8" Type="http://schemas.openxmlformats.org/officeDocument/2006/relationships/image" Target="../media/image2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7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2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2.png"  /><Relationship Id="rId11" Type="http://schemas.openxmlformats.org/officeDocument/2006/relationships/image" Target="../media/image32.png"  /><Relationship Id="rId12" Type="http://schemas.openxmlformats.org/officeDocument/2006/relationships/image" Target="../media/image32.png"  /><Relationship Id="rId2" Type="http://schemas.openxmlformats.org/officeDocument/2006/relationships/image" Target="../media/image5.png"  /><Relationship Id="rId3" Type="http://schemas.openxmlformats.org/officeDocument/2006/relationships/image" Target="../media/image29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image" Target="../media/image31.png"  /><Relationship Id="rId9" Type="http://schemas.openxmlformats.org/officeDocument/2006/relationships/image" Target="../media/image3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7.png"  /><Relationship Id="rId3" Type="http://schemas.openxmlformats.org/officeDocument/2006/relationships/image" Target="../media/image33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Relationship Id="rId6" Type="http://schemas.openxmlformats.org/officeDocument/2006/relationships/image" Target="../media/image34.png"  /><Relationship Id="rId7" Type="http://schemas.openxmlformats.org/officeDocument/2006/relationships/image" Target="../media/image35.png"  /><Relationship Id="rId8" Type="http://schemas.openxmlformats.org/officeDocument/2006/relationships/image" Target="../media/image34.png"  /><Relationship Id="rId9" Type="http://schemas.openxmlformats.org/officeDocument/2006/relationships/image" Target="../media/image3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2.png"  /><Relationship Id="rId4" Type="http://schemas.openxmlformats.org/officeDocument/2006/relationships/image" Target="../media/image6.png"  /><Relationship Id="rId5" Type="http://schemas.openxmlformats.org/officeDocument/2006/relationships/image" Target="../media/image12.png"  /><Relationship Id="rId6" Type="http://schemas.openxmlformats.org/officeDocument/2006/relationships/image" Target="../media/image3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2.png"  /><Relationship Id="rId4" Type="http://schemas.openxmlformats.org/officeDocument/2006/relationships/image" Target="../media/image6.png"  /><Relationship Id="rId5" Type="http://schemas.openxmlformats.org/officeDocument/2006/relationships/image" Target="../media/image12.png"  /><Relationship Id="rId6" Type="http://schemas.openxmlformats.org/officeDocument/2006/relationships/image" Target="../media/image3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9.png"  /><Relationship Id="rId3" Type="http://schemas.openxmlformats.org/officeDocument/2006/relationships/image" Target="../media/image40.png"  /><Relationship Id="rId4" Type="http://schemas.openxmlformats.org/officeDocument/2006/relationships/image" Target="../media/image41.png"  /><Relationship Id="rId5" Type="http://schemas.openxmlformats.org/officeDocument/2006/relationships/image" Target="../media/image42.png"  /><Relationship Id="rId6" Type="http://schemas.openxmlformats.org/officeDocument/2006/relationships/image" Target="../media/image4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9.png"  /><Relationship Id="rId3" Type="http://schemas.openxmlformats.org/officeDocument/2006/relationships/image" Target="../media/image40.png"  /><Relationship Id="rId4" Type="http://schemas.openxmlformats.org/officeDocument/2006/relationships/image" Target="../media/image41.png"  /><Relationship Id="rId5" Type="http://schemas.openxmlformats.org/officeDocument/2006/relationships/image" Target="../media/image42.png"  /><Relationship Id="rId6" Type="http://schemas.openxmlformats.org/officeDocument/2006/relationships/image" Target="../media/image44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Relationship Id="rId5" Type="http://schemas.openxmlformats.org/officeDocument/2006/relationships/image" Target="../media/image42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1.png"  /><Relationship Id="rId11" Type="http://schemas.openxmlformats.org/officeDocument/2006/relationships/image" Target="../media/image52.png"  /><Relationship Id="rId2" Type="http://schemas.openxmlformats.org/officeDocument/2006/relationships/image" Target="../media/image48.png"  /><Relationship Id="rId3" Type="http://schemas.openxmlformats.org/officeDocument/2006/relationships/image" Target="../media/image49.png"  /><Relationship Id="rId4" Type="http://schemas.openxmlformats.org/officeDocument/2006/relationships/image" Target="../media/image50.png"  /><Relationship Id="rId5" Type="http://schemas.openxmlformats.org/officeDocument/2006/relationships/image" Target="../media/image42.png"  /><Relationship Id="rId6" Type="http://schemas.openxmlformats.org/officeDocument/2006/relationships/image" Target="../media/image51.png"  /><Relationship Id="rId7" Type="http://schemas.openxmlformats.org/officeDocument/2006/relationships/image" Target="../media/image52.png"  /><Relationship Id="rId8" Type="http://schemas.openxmlformats.org/officeDocument/2006/relationships/image" Target="../media/image51.png"  /><Relationship Id="rId9" Type="http://schemas.openxmlformats.org/officeDocument/2006/relationships/image" Target="../media/image5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4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5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6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7.png"  /><Relationship Id="rId3" Type="http://schemas.openxmlformats.org/officeDocument/2006/relationships/image" Target="../media/image58.png"  /><Relationship Id="rId4" Type="http://schemas.openxmlformats.org/officeDocument/2006/relationships/image" Target="../media/image59.png"  /><Relationship Id="rId5" Type="http://schemas.openxmlformats.org/officeDocument/2006/relationships/image" Target="../media/image60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1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2.png"  /><Relationship Id="rId3" Type="http://schemas.openxmlformats.org/officeDocument/2006/relationships/image" Target="../media/image63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4.png"  /><Relationship Id="rId3" Type="http://schemas.openxmlformats.org/officeDocument/2006/relationships/image" Target="../media/image65.png"  /><Relationship Id="rId4" Type="http://schemas.openxmlformats.org/officeDocument/2006/relationships/image" Target="../media/image66.png"  /><Relationship Id="rId5" Type="http://schemas.openxmlformats.org/officeDocument/2006/relationships/image" Target="../media/image67.png"  /><Relationship Id="rId6" Type="http://schemas.openxmlformats.org/officeDocument/2006/relationships/image" Target="../media/image6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9.png"  /><Relationship Id="rId3" Type="http://schemas.openxmlformats.org/officeDocument/2006/relationships/image" Target="../media/image40.png"  /><Relationship Id="rId4" Type="http://schemas.openxmlformats.org/officeDocument/2006/relationships/image" Target="../media/image70.png"  /><Relationship Id="rId5" Type="http://schemas.openxmlformats.org/officeDocument/2006/relationships/image" Target="../media/image42.png"  /><Relationship Id="rId6" Type="http://schemas.openxmlformats.org/officeDocument/2006/relationships/image" Target="../media/image52.png"  /><Relationship Id="rId7" Type="http://schemas.openxmlformats.org/officeDocument/2006/relationships/image" Target="../media/image52.png"  /><Relationship Id="rId8" Type="http://schemas.openxmlformats.org/officeDocument/2006/relationships/image" Target="../media/image52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8.png"  /><Relationship Id="rId3" Type="http://schemas.openxmlformats.org/officeDocument/2006/relationships/image" Target="../media/image49.png"  /><Relationship Id="rId4" Type="http://schemas.openxmlformats.org/officeDocument/2006/relationships/image" Target="../media/image70.png"  /><Relationship Id="rId5" Type="http://schemas.openxmlformats.org/officeDocument/2006/relationships/image" Target="../media/image7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219200"/>
            <a:ext cx="20993100" cy="6324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76400" y="8089900"/>
            <a:ext cx="20726400" cy="800100"/>
          </a:xfrm>
          <a:prstGeom prst="rect">
            <a:avLst/>
          </a:prstGeom>
        </p:spPr>
        <p:txBody>
          <a:bodyPr lIns="0" tIns="57572" rIns="0" bIns="57572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4533" b="0" i="0" u="none" strike="noStrike">
                <a:solidFill>
                  <a:srgbClr val="98afd1"/>
                </a:solidFill>
                <a:latin typeface="맑은 고딕"/>
              </a:rPr>
              <a:t>야구</a:t>
            </a:r>
            <a:r>
              <a:rPr lang="en-US" sz="4533" b="0" i="0" u="none" strike="noStrike">
                <a:solidFill>
                  <a:srgbClr val="98afd1"/>
                </a:solidFill>
                <a:latin typeface="맑은 고딕"/>
                <a:ea typeface="맑은 고딕"/>
              </a:rPr>
              <a:t> </a:t>
            </a:r>
            <a:r>
              <a:rPr lang="ko-KR" sz="4533" b="0" i="0" u="none" strike="noStrike">
                <a:solidFill>
                  <a:srgbClr val="98afd1"/>
                </a:solidFill>
                <a:latin typeface="맑은 고딕"/>
              </a:rPr>
              <a:t>투구</a:t>
            </a:r>
            <a:r>
              <a:rPr lang="en-US" sz="4533" b="0" i="0" u="none" strike="noStrike">
                <a:solidFill>
                  <a:srgbClr val="98afd1"/>
                </a:solidFill>
                <a:latin typeface="맑은 고딕"/>
                <a:ea typeface="맑은 고딕"/>
              </a:rPr>
              <a:t> </a:t>
            </a:r>
            <a:r>
              <a:rPr lang="ko-KR" altLang="en-US" sz="4533" b="0" i="0" u="none" strike="noStrike">
                <a:solidFill>
                  <a:srgbClr val="98afd1"/>
                </a:solidFill>
                <a:latin typeface="맑은 고딕"/>
              </a:rPr>
              <a:t>모듈</a:t>
            </a:r>
            <a:endParaRPr lang="ko-KR" altLang="en-US" sz="4533" b="0" i="0" u="none" strike="noStrike">
              <a:solidFill>
                <a:srgbClr val="98afd1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27200" y="2273300"/>
            <a:ext cx="20218400" cy="2374900"/>
          </a:xfrm>
          <a:prstGeom prst="rect">
            <a:avLst/>
          </a:prstGeom>
        </p:spPr>
        <p:txBody>
          <a:bodyPr lIns="0" tIns="253999" rIns="0" bIns="0" anchor="t"/>
          <a:lstStyle/>
          <a:p>
            <a:pPr lvl="0" algn="l">
              <a:lnSpc>
                <a:spcPct val="91299"/>
              </a:lnSpc>
              <a:defRPr/>
            </a:pPr>
            <a:r>
              <a:rPr lang="ko-KR" sz="13200" b="0" i="0" u="none" strike="noStrike">
                <a:solidFill>
                  <a:srgbClr val="657ea7"/>
                </a:solidFill>
                <a:latin typeface="맑은 고딕"/>
              </a:rPr>
              <a:t>교육용</a:t>
            </a:r>
            <a:r>
              <a:rPr lang="en-US" sz="1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3D </a:t>
            </a:r>
            <a:r>
              <a:rPr lang="ko-KR" sz="13200" b="0" i="0" u="none" strike="noStrike">
                <a:solidFill>
                  <a:srgbClr val="657ea7"/>
                </a:solidFill>
                <a:latin typeface="맑은 고딕"/>
              </a:rPr>
              <a:t>물리</a:t>
            </a:r>
            <a:r>
              <a:rPr lang="en-US" sz="1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12300" b="0" i="0" u="none" strike="noStrike">
                <a:solidFill>
                  <a:srgbClr val="657ea7"/>
                </a:solidFill>
                <a:latin typeface="맑은 고딕"/>
              </a:rPr>
              <a:t>시뮬레이터</a:t>
            </a:r>
            <a:endParaRPr lang="ko-KR" sz="12300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49400" y="3009900"/>
            <a:ext cx="203073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438400" y="4267200"/>
            <a:ext cx="1409700" cy="25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013200" y="3962400"/>
            <a:ext cx="6680200" cy="5715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16199"/>
              </a:lnSpc>
              <a:defRPr/>
            </a:pP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프로젝트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진행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과정</a:t>
            </a:r>
            <a:endParaRPr lang="ko-KR" sz="3199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12900" y="3937000"/>
            <a:ext cx="825500" cy="635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98600" y="4038600"/>
            <a:ext cx="1066800" cy="444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en" sz="2533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  <a:endParaRPr lang="en" sz="2533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013200" y="4635500"/>
            <a:ext cx="6667500" cy="1485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요구사항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정의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개발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환경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시스템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아키텍처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시뮬레이션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실행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시퀀스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438400" y="7277100"/>
            <a:ext cx="1409700" cy="2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013200" y="6972300"/>
            <a:ext cx="6680200" cy="5715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16199"/>
              </a:lnSpc>
              <a:defRPr/>
            </a:pP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프로젝트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구현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과정</a:t>
            </a:r>
            <a:endParaRPr lang="ko-KR" sz="3199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12900" y="6934200"/>
            <a:ext cx="825500" cy="635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498600" y="7035800"/>
            <a:ext cx="1066800" cy="444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en" sz="2533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  <a:endParaRPr lang="en" sz="2533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013200" y="7645400"/>
            <a:ext cx="6667500" cy="1485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문제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해결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사례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프로그램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코드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구성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주요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파일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기능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438400" y="10274300"/>
            <a:ext cx="1409700" cy="25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4013200" y="9982200"/>
            <a:ext cx="6680200" cy="5715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16199"/>
              </a:lnSpc>
              <a:defRPr/>
            </a:pP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데이터베이스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설계</a:t>
            </a:r>
            <a:endParaRPr lang="ko-KR" sz="3199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612900" y="9944100"/>
            <a:ext cx="825500" cy="635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498600" y="10045700"/>
            <a:ext cx="1066800" cy="444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en" sz="2533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  <a:endParaRPr lang="en" sz="2533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13200" y="10642600"/>
            <a:ext cx="6667500" cy="1485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데이터베이스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ERD</a:t>
            </a:r>
            <a:endParaRPr lang="en-US" sz="2666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RLS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정책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Supabase Auth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연동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3487400" y="4267200"/>
            <a:ext cx="1409700" cy="25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5074900" y="3962400"/>
            <a:ext cx="6680200" cy="5715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16199"/>
              </a:lnSpc>
              <a:defRPr/>
            </a:pP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테스트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endParaRPr lang="ko-KR" sz="3199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2661900" y="3937000"/>
            <a:ext cx="825500" cy="6350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2560300" y="4038600"/>
            <a:ext cx="1066800" cy="444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en" sz="2533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  <a:endParaRPr lang="en" sz="2533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074900" y="4635500"/>
            <a:ext cx="6667500" cy="1485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단위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테스트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결과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디버깅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사례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렌더링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메모리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최적화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3487400" y="7277100"/>
            <a:ext cx="1409700" cy="25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5074900" y="6972300"/>
            <a:ext cx="6680200" cy="5715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16199"/>
              </a:lnSpc>
              <a:defRPr/>
            </a:pP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구현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결과</a:t>
            </a:r>
            <a:endParaRPr lang="ko-KR" sz="3199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2661900" y="6934200"/>
            <a:ext cx="825500" cy="635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560300" y="7035800"/>
            <a:ext cx="1066800" cy="444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en" sz="2533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  <a:endParaRPr lang="en" sz="2533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5074900" y="7645400"/>
            <a:ext cx="6667500" cy="1485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UI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화면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- 3D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모델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시각화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파라미터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입력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결과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패널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3487400" y="10274300"/>
            <a:ext cx="1409700" cy="254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5074900" y="9982200"/>
            <a:ext cx="6680200" cy="5715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16199"/>
              </a:lnSpc>
              <a:defRPr/>
            </a:pP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완료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현황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향후</a:t>
            </a:r>
            <a:r>
              <a:rPr lang="en-US" sz="3199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199" b="0" i="0" u="none" strike="noStrike">
                <a:solidFill>
                  <a:srgbClr val="657ea7"/>
                </a:solidFill>
                <a:latin typeface="맑은 고딕"/>
              </a:rPr>
              <a:t>계획</a:t>
            </a:r>
            <a:endParaRPr lang="ko-KR" sz="3199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2661900" y="9944100"/>
            <a:ext cx="825500" cy="635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2560300" y="10045700"/>
            <a:ext cx="1066800" cy="444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en" sz="2533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  <a:endParaRPr lang="en" sz="2533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5074900" y="10642600"/>
            <a:ext cx="6667500" cy="1485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완료율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향후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개발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계획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프로젝트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성과</a:t>
            </a:r>
            <a:r>
              <a:rPr lang="en-US" sz="2666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666" b="0" i="0" u="none" strike="noStrike">
                <a:solidFill>
                  <a:srgbClr val="595959"/>
                </a:solidFill>
                <a:latin typeface="맑은 고딕"/>
              </a:rPr>
              <a:t>요약</a:t>
            </a:r>
            <a:endParaRPr lang="ko-KR" sz="2666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549400" y="1320800"/>
            <a:ext cx="19507200" cy="1422400"/>
          </a:xfrm>
          <a:prstGeom prst="rect">
            <a:avLst/>
          </a:prstGeom>
        </p:spPr>
        <p:txBody>
          <a:bodyPr lIns="0" tIns="101600" rIns="0" bIns="101600" anchor="ctr"/>
          <a:lstStyle/>
          <a:p>
            <a:pPr lvl="0" algn="l">
              <a:lnSpc>
                <a:spcPct val="99600"/>
              </a:lnSpc>
              <a:defRPr/>
            </a:pPr>
            <a:r>
              <a:rPr lang="en" sz="80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목차</a:t>
            </a:r>
            <a:endParaRPr lang="en" sz="8000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63700" y="4673600"/>
            <a:ext cx="21348700" cy="14986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ko-KR" altLang="en-US" sz="2933" b="0" i="0" u="none" strike="noStrike">
                <a:solidFill>
                  <a:srgbClr val="595959"/>
                </a:solidFill>
                <a:latin typeface="맑은 고딕"/>
              </a:rPr>
              <a:t>확장 가능한 웹 기반 </a:t>
            </a:r>
            <a:r>
              <a:rPr lang="en-US" altLang="ko-KR" sz="2933" b="0" i="0" u="none" strike="noStrike">
                <a:solidFill>
                  <a:srgbClr val="595959"/>
                </a:solidFill>
                <a:latin typeface="맑은 고딕"/>
              </a:rPr>
              <a:t>3D</a:t>
            </a:r>
            <a:r>
              <a:rPr lang="ko-KR" altLang="en-US" sz="2933" b="0" i="0" u="none" strike="noStrike">
                <a:solidFill>
                  <a:srgbClr val="595959"/>
                </a:solidFill>
                <a:latin typeface="맑은 고딕"/>
              </a:rPr>
              <a:t> 물리 시뮬레이터를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개발하여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학생들이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현상을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직관적으로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이해할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있도록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지원합니다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야구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투구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시뮬레이터를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통해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법칙을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시각적으로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경험할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있습니다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63700" y="3962400"/>
            <a:ext cx="8496300" cy="6223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24499"/>
              </a:lnSpc>
              <a:defRPr/>
            </a:pP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프로젝트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목표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요구사항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정의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개발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환경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76400" y="7258050"/>
            <a:ext cx="20129500" cy="180975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가능한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시뮬레이션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- 3D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시각화를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통한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직관적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학습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제공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시스템으로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개인화된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학습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76400" y="6546850"/>
            <a:ext cx="20154900" cy="6223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24499"/>
              </a:lnSpc>
              <a:defRPr/>
            </a:pPr>
            <a:r>
              <a:rPr lang="ko-KR" sz="3466" b="0" i="0" u="none" strike="noStrike">
                <a:solidFill>
                  <a:srgbClr val="404040"/>
                </a:solidFill>
                <a:latin typeface="맑은 고딕"/>
              </a:rPr>
              <a:t>핵심</a:t>
            </a:r>
            <a:r>
              <a:rPr lang="en-US" sz="3466" b="0" i="0" u="none" strike="noStrike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404040"/>
                </a:solidFill>
                <a:latin typeface="맑은 고딕"/>
              </a:rPr>
              <a:t>요구사항</a:t>
            </a:r>
            <a:r>
              <a:rPr lang="en-US" sz="3466" b="0" i="0" u="none" strike="noStrike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404040"/>
                </a:solidFill>
                <a:latin typeface="맑은 고딕"/>
              </a:rPr>
              <a:t>및</a:t>
            </a:r>
            <a:r>
              <a:rPr lang="en-US" sz="3466" b="0" i="0" u="none" strike="noStrike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404040"/>
                </a:solidFill>
                <a:latin typeface="맑은 고딕"/>
              </a:rPr>
              <a:t>개발</a:t>
            </a:r>
            <a:r>
              <a:rPr lang="en-US" sz="3466" b="0" i="0" u="none" strike="noStrike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404040"/>
                </a:solidFill>
                <a:latin typeface="맑은 고딕"/>
              </a:rPr>
              <a:t>환경</a:t>
            </a:r>
            <a:endParaRPr lang="ko-KR" sz="3466" b="0" i="0" u="none" strike="noStrike">
              <a:solidFill>
                <a:srgbClr val="404040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14500" y="10045700"/>
            <a:ext cx="20154900" cy="622300"/>
          </a:xfrm>
          <a:prstGeom prst="rect">
            <a:avLst/>
          </a:prstGeom>
        </p:spPr>
        <p:txBody>
          <a:bodyPr anchor="b"/>
          <a:p>
            <a:pPr marL="0" lvl="0" indent="0" algn="l" defTabSz="914400" rtl="0" eaLnBrk="1" latinLnBrk="0" hangingPunct="1">
              <a:lnSpc>
                <a:spcPct val="12449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466" b="0" i="0" u="none" strike="noStrike" kern="1200" cap="none" spc="0" normalizeH="0" baseline="0" mc:Ignorable="hp" hp:hslEmbossed="0">
                <a:solidFill>
                  <a:srgbClr val="404040"/>
                </a:solidFill>
                <a:latin typeface="맑은 고딕"/>
              </a:rPr>
              <a:t>개발 환경</a:t>
            </a:r>
            <a:endParaRPr xmlns:mc="http://schemas.openxmlformats.org/markup-compatibility/2006" xmlns:hp="http://schemas.haansoft.com/office/presentation/8.0" kumimoji="0" lang="ko-KR" altLang="en-US" sz="3466" b="0" i="0" u="none" strike="noStrike" kern="1200" cap="none" spc="0" normalizeH="0" baseline="0" mc:Ignorable="hp" hp:hslEmbossed="0">
              <a:solidFill>
                <a:srgbClr val="404040"/>
              </a:solidFill>
              <a:latin typeface="맑은 고딕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114800" y="9220200"/>
            <a:ext cx="2736342" cy="2736342"/>
          </a:xfrm>
          <a:prstGeom prst="rect">
            <a:avLst/>
          </a:prstGeom>
        </p:spPr>
      </p:pic>
      <p:pic>
        <p:nvPicPr>
          <p:cNvPr id="22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169658" y="9227058"/>
            <a:ext cx="2736342" cy="2736342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439400" y="9296400"/>
            <a:ext cx="2736342" cy="2736342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494258" y="9220200"/>
            <a:ext cx="2736342" cy="2736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시스템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아키텍처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21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514600" y="3746822"/>
            <a:ext cx="17830800" cy="87499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시뮬레이션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실행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시퀀스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867400" y="3657600"/>
            <a:ext cx="13716000" cy="937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66798" y="5448300"/>
            <a:ext cx="7467601" cy="4991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리플레이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슬라이더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애니메이션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UI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불일치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슬라이더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이동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재생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버튼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클릭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처음부터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재생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일시정지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재개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타이밍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오류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6799" y="4737100"/>
            <a:ext cx="64643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 algn="ctr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상황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1 -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리플레이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시스템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버그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94700" y="5448300"/>
            <a:ext cx="6451600" cy="38735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일반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모드와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리플레이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모드가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분리되어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관리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복잡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381999" y="4737100"/>
            <a:ext cx="64643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 algn="ctr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원인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분석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709900" y="5448300"/>
            <a:ext cx="6451600" cy="4991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replayTime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모든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제어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통합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requestAnimationFrame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루프에서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replayTime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업데이트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709900" y="4737100"/>
            <a:ext cx="64643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 algn="ctr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방법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454650" y="-4654549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1361400" y="1625600"/>
            <a:ext cx="101600" cy="10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1590000" y="1625600"/>
            <a:ext cx="101600" cy="10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1805900" y="1625600"/>
            <a:ext cx="101600" cy="101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2 -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릴리스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포인트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자동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보정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87500" y="6464299"/>
            <a:ext cx="8470900" cy="2908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우완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/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좌완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릴리스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포인트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(X≠0)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투구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홈플레이트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중심을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빗나감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수평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각도만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입력으로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처리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자연스러운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투구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방향이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고려되지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않음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야구와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다른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부자연스러운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궤적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87500" y="5753099"/>
            <a:ext cx="8496300" cy="6223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24499"/>
              </a:lnSpc>
              <a:defRPr/>
            </a:pP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원인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839700" y="6464299"/>
            <a:ext cx="8470900" cy="2908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릴리스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포인트에서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홈플레이트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중심으로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향하는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자연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각도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자동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계산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naturalHorizontalAngle = atan2(deltaX, -deltaZ)</a:t>
            </a:r>
            <a:endParaRPr lang="en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입력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각도는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미세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조정값으로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추가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적용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야구와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유사한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자연스러운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궤적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성공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839700" y="5753099"/>
            <a:ext cx="8496300" cy="6223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24499"/>
              </a:lnSpc>
              <a:defRPr/>
            </a:pP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방법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결과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879600" y="5283200"/>
            <a:ext cx="9017000" cy="21971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초기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구현에서는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중심점만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체크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경계에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걸친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잘못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판정됨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야구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규칙과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불일치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79600" y="4521200"/>
            <a:ext cx="90297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 algn="l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상황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99600" y="5194300"/>
            <a:ext cx="9017000" cy="2197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반지름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(0.037m)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고려한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판정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스트라이크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범위를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ballRadius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만큼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확장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스트라이크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존에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일부라도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접촉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스트라이크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판정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34498" y="4724400"/>
            <a:ext cx="90297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방법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3 -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스트라이크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존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판정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개선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디렉토리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구조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아키텍처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24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4953000"/>
            <a:ext cx="22783800" cy="47837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주요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파일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목록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19200" y="5664200"/>
            <a:ext cx="2099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19200" y="8051800"/>
            <a:ext cx="2099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19200" y="10426700"/>
            <a:ext cx="209931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219200" y="4521200"/>
            <a:ext cx="209931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219200" y="6858000"/>
            <a:ext cx="209931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219200" y="9207500"/>
            <a:ext cx="209931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219200" y="11582400"/>
            <a:ext cx="209931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19200" y="6019800"/>
            <a:ext cx="21107400" cy="5207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simulator.ts, integrator.ts, forces.ts, constants.ts, types.ts</a:t>
            </a:r>
            <a:endParaRPr lang="en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19200" y="4838700"/>
            <a:ext cx="21132800" cy="622300"/>
          </a:xfrm>
          <a:prstGeom prst="rect">
            <a:avLst/>
          </a:prstGeom>
        </p:spPr>
        <p:txBody>
          <a:bodyPr lIns="0" tIns="22014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물리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엔진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파일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9200" y="8369300"/>
            <a:ext cx="21107400" cy="5207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Scene3D.tsx, CameraController.tsx, Ball3D.tsx, Pitcher3D.tsx, StadiumModel.tsx</a:t>
            </a:r>
            <a:endParaRPr lang="en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19200" y="7200900"/>
            <a:ext cx="21132800" cy="622300"/>
          </a:xfrm>
          <a:prstGeom prst="rect">
            <a:avLst/>
          </a:prstGeom>
        </p:spPr>
        <p:txBody>
          <a:bodyPr lIns="0" tIns="22014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3D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렌더링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파일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19200" y="10756900"/>
            <a:ext cx="21107400" cy="5207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PitchSimulator.tsx, PitchInputPanel.tsx, TabContainer.tsx, ReplayControls.tsx, ComparisonPanel.tsx</a:t>
            </a:r>
            <a:endParaRPr lang="en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19200" y="9575800"/>
            <a:ext cx="21132800" cy="622300"/>
          </a:xfrm>
          <a:prstGeom prst="rect">
            <a:avLst/>
          </a:prstGeom>
        </p:spPr>
        <p:txBody>
          <a:bodyPr lIns="0" tIns="22014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UI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시나리오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파일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873750" y="-467995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핵심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파일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상세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설명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graphicFrame>
        <p:nvGraphicFramePr>
          <p:cNvPr id="30" name=""/>
          <p:cNvGraphicFramePr/>
          <p:nvPr/>
        </p:nvGraphicFramePr>
        <p:xfrm>
          <a:off x="1752600" y="3775029"/>
          <a:ext cx="16992600" cy="8685600"/>
        </p:xfrm>
        <a:graphic>
          <a:graphicData uri="http://schemas.openxmlformats.org/drawingml/2006/table">
            <a:tbl>
              <a:tblPr firstRow="1" bandRow="1"/>
              <a:tblGrid>
                <a:gridCol w="5664200"/>
                <a:gridCol w="5664200"/>
                <a:gridCol w="5664200"/>
              </a:tblGrid>
              <a:tr h="34441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59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simulator.ts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물리 시뮬레이션 핵심 로직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이영호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59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SimulationContext.tsx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전역 상태 관리 Context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44416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integrator.ts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수치 적분 (Euler, RK4)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이영호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59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forces.ts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힘 계산 (중력, 항력, 마그누스)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이영호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59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Scene3D.tsx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Three.js 캔버스 및 기본 설정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44416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CameraController.tsx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카메라 제어 로직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6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Ball3D.tsx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야구공 3D 모델 및 궤적 렌더링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727446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TabContainer.tsx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재사용 가능한 탭 컨테이너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44416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ReplayControls.tsx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리플레이 제어 UI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44416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ComparisonPanel.tsx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비교 모드 UI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이영호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727446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PitchSimulator.tsx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시뮬레이터 메인 컴포넌트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이영호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727446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PitchInputPanel.tsx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투구 파라미터 입력 UI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6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LoginPage.tsx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로그인 페이지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6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SignupPage.tsx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회원가입 페이지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90103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supabaseExperiments.ts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Supabase 실험 데이터 연동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이영호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6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vite.config.ts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Vite 빌드 설정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구태훈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2759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tsconfig.json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TypeScript 설정 상세 설명 완료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이영호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2225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03400" y="3848100"/>
            <a:ext cx="2806700" cy="280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157200" y="3848100"/>
            <a:ext cx="2806700" cy="2806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8834100" y="3848100"/>
            <a:ext cx="2806700" cy="280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480300" y="3848100"/>
            <a:ext cx="2806700" cy="2806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863600" y="8305800"/>
            <a:ext cx="4673600" cy="33147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키보드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단축키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안내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FAQ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가이드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ESC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키로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열기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/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닫기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전역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관리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초보자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튜토리얼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제공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설명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포함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09700" y="7493000"/>
            <a:ext cx="4686300" cy="622300"/>
          </a:xfrm>
          <a:prstGeom prst="rect">
            <a:avLst/>
          </a:prstGeom>
        </p:spPr>
        <p:txBody>
          <a:bodyPr lIns="0" tIns="0" rIns="0" bIns="22014" anchor="b"/>
          <a:lstStyle/>
          <a:p>
            <a:pPr lvl="0">
              <a:lnSpc>
                <a:spcPct val="107899"/>
              </a:lnSpc>
              <a:defRPr/>
            </a:pPr>
            <a:r>
              <a:rPr lang="en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HelpModal</a:t>
            </a:r>
            <a:endParaRPr lang="en" sz="3466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943600" y="8343900"/>
            <a:ext cx="5638800" cy="33147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프로필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표시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로그아웃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기능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Supabase Auth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세션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연동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역할별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UI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분기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처리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최근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활동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기록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표시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설정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변경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옵션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324600" y="7493000"/>
            <a:ext cx="4686300" cy="622300"/>
          </a:xfrm>
          <a:prstGeom prst="rect">
            <a:avLst/>
          </a:prstGeom>
        </p:spPr>
        <p:txBody>
          <a:bodyPr lIns="0" tIns="0" rIns="0" bIns="22014" anchor="b"/>
          <a:lstStyle/>
          <a:p>
            <a:pPr lvl="0">
              <a:lnSpc>
                <a:spcPct val="107899"/>
              </a:lnSpc>
              <a:defRPr/>
            </a:pPr>
            <a:r>
              <a:rPr lang="en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AccountModal</a:t>
            </a:r>
            <a:endParaRPr lang="en" sz="3466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230100" y="8305800"/>
            <a:ext cx="4673600" cy="33147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FPS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모니터링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렌더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측정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메모리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사용량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표시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performance.now()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활용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병목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시각화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개발자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전용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649200" y="7493000"/>
            <a:ext cx="4686300" cy="622300"/>
          </a:xfrm>
          <a:prstGeom prst="rect">
            <a:avLst/>
          </a:prstGeom>
        </p:spPr>
        <p:txBody>
          <a:bodyPr lIns="0" tIns="0" rIns="0" bIns="22014" anchor="b"/>
          <a:lstStyle/>
          <a:p>
            <a:pPr lvl="0">
              <a:lnSpc>
                <a:spcPct val="107899"/>
              </a:lnSpc>
              <a:defRPr/>
            </a:pPr>
            <a:r>
              <a:rPr lang="en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DebugPanel</a:t>
            </a:r>
            <a:endParaRPr lang="en" sz="3466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7907000" y="8305800"/>
            <a:ext cx="4673600" cy="33147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DPR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(0.7-2.0)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안티앨리어싱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ON/OFF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그림자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품질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목표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FPS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폴리곤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조절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시야각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(FOV)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조절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8249900" y="7493000"/>
            <a:ext cx="4686300" cy="622300"/>
          </a:xfrm>
          <a:prstGeom prst="rect">
            <a:avLst/>
          </a:prstGeom>
        </p:spPr>
        <p:txBody>
          <a:bodyPr lIns="0" tIns="0" rIns="0" bIns="22014" anchor="b"/>
          <a:lstStyle/>
          <a:p>
            <a:pPr lvl="0">
              <a:lnSpc>
                <a:spcPct val="107899"/>
              </a:lnSpc>
              <a:defRPr/>
            </a:pPr>
            <a:r>
              <a:rPr lang="en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GraphicsSettings</a:t>
            </a:r>
            <a:endParaRPr lang="en" sz="3466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보조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기능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연관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처리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612900" y="20574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데이터베이스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ERD</a:t>
            </a:r>
            <a:endParaRPr lang="en-US" sz="6666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984926" y="3810000"/>
            <a:ext cx="9160074" cy="8568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RLS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정책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Supabase Auth</a:t>
            </a:r>
            <a:endParaRPr lang="en-US" sz="6666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  <p:pic>
        <p:nvPicPr>
          <p:cNvPr id="21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006136" y="4038600"/>
            <a:ext cx="16491155" cy="8686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197100" y="7861300"/>
            <a:ext cx="19050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133600" y="4991100"/>
            <a:ext cx="12992100" cy="23114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계산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테스트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알려진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입력값과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예상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출력값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비교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오차율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0.1%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이내로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정확한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계산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확인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- 3D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렌더링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테스트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Storybook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활용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시각적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검증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벡터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(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중력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/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항력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/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마그누스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방향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색상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정상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출력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71700" y="8597900"/>
            <a:ext cx="12992100" cy="2908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DB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연동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테스트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Supabase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테스트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프로젝트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검증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RLS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정책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정상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작동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CRUD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작업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성공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UI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인터랙션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테스트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React Testing Library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활용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파라미터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변경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정상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연동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확인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30400" y="7620000"/>
            <a:ext cx="5842000" cy="12827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24499"/>
              </a:lnSpc>
              <a:defRPr/>
            </a:pP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데이터베이스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UI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테스트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30400" y="4038600"/>
            <a:ext cx="5842000" cy="12827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24499"/>
              </a:lnSpc>
              <a:defRPr/>
            </a:pP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물리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엔진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렌더링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테스트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단위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테스트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결과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54099" y="4902200"/>
            <a:ext cx="6451600" cy="55499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리플레이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슬라이더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애니메이션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UI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불일치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일반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모드와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리플레이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모드가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분리되어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관리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복잡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- 4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존재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animationIndex, isAnimating, replayTime, isPaused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동기화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실패로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특히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슬라이더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드래그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재생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위치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오류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빈번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디버깅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난이도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증가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4099" y="4191000"/>
            <a:ext cx="64643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상황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디버깅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사례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분석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82000" y="4902200"/>
            <a:ext cx="6451600" cy="61087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분석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4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replayTime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가장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범용적임을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확인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통합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replayTime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기준으로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모든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것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제어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단순화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requestAnimationFrame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루프에서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replayTime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업데이트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animationIndex = replayTime * 30 (30fps)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공식으로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계산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isAnimating, isPaused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제거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모든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UI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컴포넌트가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참조하도록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369300" y="4191000"/>
            <a:ext cx="64643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과정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697200" y="4902200"/>
            <a:ext cx="6451600" cy="44323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코드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100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→ 50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줄로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감소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(50%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간소화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버그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완전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해결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개선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불일치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문제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근본적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해결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슬라이더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스페이스바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일시정지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정상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동작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디버깅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용이성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증가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향후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기능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유지보수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용이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697200" y="4191000"/>
            <a:ext cx="64643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결과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개선점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7810500" y="7988300"/>
            <a:ext cx="7785100" cy="25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렌더링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17700" y="5029200"/>
            <a:ext cx="8470900" cy="23114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궤적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포인트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렌더링으로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FPS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특히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여러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궤적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동시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표시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급격히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하락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저사양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PC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10-15 FPS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까지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하락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애니메이션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끊김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현상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905000" y="4102100"/>
            <a:ext cx="8496300" cy="6223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24499"/>
              </a:lnSpc>
              <a:defRPr/>
            </a:pPr>
            <a:r>
              <a:rPr lang="en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문제점</a:t>
            </a:r>
            <a:endParaRPr lang="en" sz="3466" b="0" i="0" u="none" strike="noStrike">
              <a:solidFill>
                <a:srgbClr val="657ea7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093699" y="5029200"/>
            <a:ext cx="8470900" cy="35052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TubeGeometry → Line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변경으로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폴리곤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90%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감소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React.memo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적용으로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불필요한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리렌더링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방지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궤적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포인트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기능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추가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(50-200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- 3D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폴리곤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최적화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(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투수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280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폴리곤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결과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궤적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렌더링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50%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향상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182600" y="4191000"/>
            <a:ext cx="8496300" cy="6223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24499"/>
              </a:lnSpc>
              <a:defRPr/>
            </a:pP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해결</a:t>
            </a:r>
            <a:r>
              <a:rPr lang="en-US" sz="34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466" b="0" i="0" u="none" strike="noStrike">
                <a:solidFill>
                  <a:srgbClr val="657ea7"/>
                </a:solidFill>
                <a:latin typeface="맑은 고딕"/>
              </a:rPr>
              <a:t>방안</a:t>
            </a:r>
            <a:endParaRPr lang="ko-KR" sz="34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879600" y="5283200"/>
            <a:ext cx="9017000" cy="2197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저사양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PC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3D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렌더링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FPS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발생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특히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노트북이나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구형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데스크톱에서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문제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심각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다양한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지원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필요성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대두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학교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저사양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PC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고려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필수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47800" y="4267200"/>
            <a:ext cx="90297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문제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상황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79600" y="9702800"/>
            <a:ext cx="9017000" cy="2197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자신의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맞게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직접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설정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성능과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그래픽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품질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균형점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찾기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용이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설정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변경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즉시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적용으로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효과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가능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설정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프리셋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불러오기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기능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879600" y="8953500"/>
            <a:ext cx="90297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사용자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환경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47600" y="5283200"/>
            <a:ext cx="9017000" cy="2197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DPR(Device Pixel Ratio): 0.7-2.0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가능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안티앨리어싱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ON/OFF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전환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옵션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그림자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품질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: High/Low/Off 3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설정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목표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FPS: 30/45/60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선택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가능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547600" y="4521200"/>
            <a:ext cx="90297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그래픽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설정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패널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547600" y="9702800"/>
            <a:ext cx="9017000" cy="2197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저사양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(DPR 0.7)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환경에서도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안정적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60fps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달성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그래픽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품질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최소화하며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다양한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하드웨어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일관된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학교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컴퓨터실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테스트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통과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547600" y="8953500"/>
            <a:ext cx="9029700" cy="546100"/>
          </a:xfrm>
          <a:prstGeom prst="rect">
            <a:avLst/>
          </a:prstGeom>
        </p:spPr>
        <p:txBody>
          <a:bodyPr lIns="0" tIns="0" rIns="0" bIns="19473" anchor="b"/>
          <a:lstStyle/>
          <a:p>
            <a:pPr lvl="0">
              <a:lnSpc>
                <a:spcPct val="107899"/>
              </a:lnSpc>
              <a:defRPr/>
            </a:pP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성능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개선</a:t>
            </a:r>
            <a:r>
              <a:rPr lang="en-US" sz="30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066" b="0" i="0" u="none" strike="noStrike">
                <a:solidFill>
                  <a:srgbClr val="657ea7"/>
                </a:solidFill>
                <a:latin typeface="맑은 고딕"/>
              </a:rPr>
              <a:t>결과</a:t>
            </a:r>
            <a:endParaRPr lang="ko-KR" sz="30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클라이언트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과부하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방지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68400" y="8724900"/>
            <a:ext cx="5956300" cy="44323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Three.js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객체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메모리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누수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문제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발견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useEffect cleanup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함수에서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dispose()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호출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geometry.dispose(), material.dispose()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texture.dispose()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추가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장시간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시에도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메모리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안정성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19200" y="4191000"/>
            <a:ext cx="5854700" cy="2933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19200" y="7429500"/>
            <a:ext cx="5854700" cy="1028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8400" y="7708900"/>
            <a:ext cx="59690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>
              <a:lnSpc>
                <a:spcPct val="107899"/>
              </a:lnSpc>
              <a:defRPr/>
            </a:pP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메모리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endParaRPr lang="ko-KR" sz="3200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3 -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메모리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및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코드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737600" y="8724900"/>
            <a:ext cx="5956300" cy="33147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useCallback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으로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이벤트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핸들러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메모이제이션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useMemo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복잡한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계산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결과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캐싱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불필요한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리렌더링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방지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관리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단순화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(replayTime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통합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  <a:endParaRPr lang="en-US" sz="2933" b="0" i="0" u="none" strike="noStrike">
              <a:solidFill>
                <a:srgbClr val="595959"/>
              </a:solidFill>
              <a:latin typeface="맑은 고딕"/>
              <a:ea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코드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라인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50%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감소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효과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801100" y="4191000"/>
            <a:ext cx="5854700" cy="2933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801100" y="7429500"/>
            <a:ext cx="5854700" cy="1028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37600" y="7708900"/>
            <a:ext cx="59690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>
              <a:lnSpc>
                <a:spcPct val="107899"/>
              </a:lnSpc>
              <a:defRPr/>
            </a:pP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코드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endParaRPr lang="ko-KR" sz="3200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306800" y="8724900"/>
            <a:ext cx="5956300" cy="27559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React.lazy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활용한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코드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스플리팅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초기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로딩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개선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필요한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컴포넌트만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동적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로드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무거운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3D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모델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지연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로딩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경험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향상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6370300" y="4191000"/>
            <a:ext cx="5854700" cy="2933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6370300" y="7429500"/>
            <a:ext cx="5854700" cy="10287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306800" y="7708900"/>
            <a:ext cx="59690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>
              <a:lnSpc>
                <a:spcPct val="107899"/>
              </a:lnSpc>
              <a:defRPr/>
            </a:pP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로딩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최적화</a:t>
            </a:r>
            <a:endParaRPr lang="ko-KR" sz="3200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37039" y="1370834"/>
            <a:ext cx="19509922" cy="1097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37039" y="1370834"/>
            <a:ext cx="19509922" cy="1097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7881" y="1556598"/>
            <a:ext cx="19509922" cy="10602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7155" y="908807"/>
            <a:ext cx="4229690" cy="11898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65512" y="1143000"/>
            <a:ext cx="9326488" cy="6415326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191997" y="1143000"/>
            <a:ext cx="9448798" cy="6416763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192000" y="7543800"/>
            <a:ext cx="9448800" cy="2829954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895600" y="7543800"/>
            <a:ext cx="9296400" cy="2819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37039" y="1370834"/>
            <a:ext cx="19509922" cy="1097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7449100" cy="3742543"/>
          </a:xfrm>
          <a:prstGeom prst="rect">
            <a:avLst/>
          </a:prstGeom>
        </p:spPr>
      </p:pic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12077" y="2741669"/>
            <a:ext cx="19509922" cy="1097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" y="375332"/>
            <a:ext cx="4029637" cy="12965335"/>
          </a:xfrm>
          <a:prstGeom prst="rect">
            <a:avLst/>
          </a:prstGeom>
        </p:spPr>
      </p:pic>
      <p:pic>
        <p:nvPicPr>
          <p:cNvPr id="2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42931" y="446738"/>
            <a:ext cx="4077269" cy="6716062"/>
          </a:xfrm>
          <a:prstGeom prst="rect">
            <a:avLst/>
          </a:prstGeom>
        </p:spPr>
      </p:pic>
      <p:pic>
        <p:nvPicPr>
          <p:cNvPr id="2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629206" y="389899"/>
            <a:ext cx="4086795" cy="4486901"/>
          </a:xfrm>
          <a:prstGeom prst="rect">
            <a:avLst/>
          </a:prstGeom>
        </p:spPr>
      </p:pic>
      <p:pic>
        <p:nvPicPr>
          <p:cNvPr id="3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097000" y="381000"/>
            <a:ext cx="4134427" cy="6773220"/>
          </a:xfrm>
          <a:prstGeom prst="rect">
            <a:avLst/>
          </a:prstGeom>
        </p:spPr>
      </p:pic>
      <p:pic>
        <p:nvPicPr>
          <p:cNvPr id="32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592800" y="361245"/>
            <a:ext cx="4001058" cy="5048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68400" y="5245100"/>
            <a:ext cx="5956300" cy="27559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RK4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적분기로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정확한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궤적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계산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마그누스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효과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공기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저항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중력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상호작용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실시간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물리량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시각화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다양한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투구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시뮬레이션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19200" y="3949700"/>
            <a:ext cx="5854700" cy="1028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8400" y="4229100"/>
            <a:ext cx="59690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>
              <a:lnSpc>
                <a:spcPct val="107899"/>
              </a:lnSpc>
              <a:defRPr/>
            </a:pP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물리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엔진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구현</a:t>
            </a:r>
            <a:endParaRPr lang="ko-KR" sz="3200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프로젝트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성과</a:t>
            </a:r>
            <a:r>
              <a:rPr lang="en-US" sz="6666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6666" b="0" i="0" u="none" strike="noStrike">
                <a:solidFill>
                  <a:srgbClr val="657ea7"/>
                </a:solidFill>
                <a:latin typeface="맑은 고딕"/>
              </a:rPr>
              <a:t>요약</a:t>
            </a:r>
            <a:endParaRPr lang="ko-KR" sz="6666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737600" y="5245100"/>
            <a:ext cx="5956300" cy="27559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물리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법칙의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시각적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이해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촉진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변수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조작을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통한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실험적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학습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실제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관찰이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어려운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현상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시각화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데이터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기반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분석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능력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향상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직관적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UI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접근성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01100" y="3949700"/>
            <a:ext cx="5854700" cy="1028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37600" y="4229100"/>
            <a:ext cx="59690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>
              <a:lnSpc>
                <a:spcPct val="107899"/>
              </a:lnSpc>
              <a:defRPr/>
            </a:pP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교육적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가치</a:t>
            </a:r>
            <a:endParaRPr lang="ko-KR" sz="3200" b="0" i="0" u="none" strike="noStrike">
              <a:solidFill>
                <a:srgbClr val="657ea7"/>
              </a:solidFill>
              <a:latin typeface="맑은 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306800" y="5245100"/>
            <a:ext cx="5956300" cy="27559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상태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관리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복잡성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해결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- 3D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렌더링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성능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최적화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메모리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누수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방지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구현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사용자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인증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및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보안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강화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  <a:p>
            <a:pPr lvl="0">
              <a:lnSpc>
                <a:spcPct val="124499"/>
              </a:lnSpc>
              <a:defRPr/>
            </a:pP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-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다양한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환경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호환성</a:t>
            </a:r>
            <a:r>
              <a:rPr lang="en-US" sz="2933" b="0" i="0" u="none" strike="noStrike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lang="ko-KR" sz="2933" b="0" i="0" u="none" strike="noStrike">
                <a:solidFill>
                  <a:srgbClr val="595959"/>
                </a:solidFill>
                <a:latin typeface="맑은 고딕"/>
              </a:rPr>
              <a:t>확보</a:t>
            </a:r>
            <a:endParaRPr lang="ko-KR" sz="2933" b="0" i="0" u="none" strike="noStrike">
              <a:solidFill>
                <a:srgbClr val="595959"/>
              </a:solidFill>
              <a:latin typeface="맑은 고딕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70300" y="3949700"/>
            <a:ext cx="5854700" cy="10287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306800" y="4229100"/>
            <a:ext cx="59690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>
              <a:lnSpc>
                <a:spcPct val="107899"/>
              </a:lnSpc>
              <a:defRPr/>
            </a:pP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기술적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도전</a:t>
            </a:r>
            <a:r>
              <a:rPr lang="en-US" sz="3200" b="0" i="0" u="none" strike="noStrike">
                <a:solidFill>
                  <a:srgbClr val="657ea7"/>
                </a:solidFill>
                <a:latin typeface="맑은 고딕"/>
                <a:ea typeface="맑은 고딕"/>
              </a:rPr>
              <a:t> </a:t>
            </a:r>
            <a:r>
              <a:rPr lang="ko-KR" sz="3200" b="0" i="0" u="none" strike="noStrike">
                <a:solidFill>
                  <a:srgbClr val="657ea7"/>
                </a:solidFill>
                <a:latin typeface="맑은 고딕"/>
              </a:rPr>
              <a:t>극복</a:t>
            </a:r>
            <a:endParaRPr lang="ko-KR" sz="3200" b="0" i="0" u="none" strike="noStrike">
              <a:solidFill>
                <a:srgbClr val="657ea7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19200" y="1333500"/>
            <a:ext cx="20993100" cy="10464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68500" y="6057900"/>
            <a:ext cx="194945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ctr">
              <a:lnSpc>
                <a:spcPct val="99600"/>
              </a:lnSpc>
              <a:defRPr/>
            </a:pPr>
            <a:r>
              <a:rPr lang="en" sz="6666" b="0" i="0" u="none" strike="noStrike">
                <a:solidFill>
                  <a:srgbClr val="657ea7"/>
                </a:solidFill>
                <a:ea typeface="Cafe24 Dangdanghae"/>
              </a:rPr>
              <a:t>감사합니다</a:t>
            </a:r>
            <a:endParaRPr lang="en" sz="6666" b="0" i="0" u="none" strike="noStrike">
              <a:solidFill>
                <a:srgbClr val="657ea7"/>
              </a:solidFill>
              <a:ea typeface="Cafe24 Dangdangha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1145</ep:Words>
  <ep:PresentationFormat>On-screen Show (4:3)</ep:PresentationFormat>
  <ep:Paragraphs>220</ep:Paragraphs>
  <ep:Slides>29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lyh20</cp:lastModifiedBy>
  <dcterms:modified xsi:type="dcterms:W3CDTF">2025-11-04T18:30:45.892</dcterms:modified>
  <cp:revision>50</cp:revision>
  <cp:version/>
</cp:coreProperties>
</file>